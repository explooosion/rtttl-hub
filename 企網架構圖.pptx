
<file path=[Content_Types].xml><?xml version="1.0" encoding="utf-8"?>
<Types xmlns="http://schemas.openxmlformats.org/package/2006/content-types">
  <Default Extension="jpeg" ContentType="image/jpeg"/>
  <Default Extension="png" ContentType="image/png"/>
  <Default Extension="png&amp;ehk=aTbhyXfKRWd77U2Dz6NrVpNpZrUymD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BEF"/>
    <a:srgbClr val="FCF2FB"/>
    <a:srgbClr val="FEFAF8"/>
    <a:srgbClr val="FDF0E9"/>
    <a:srgbClr val="F5F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3B4FCC-B963-72A9-917C-619A1414BB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672ED81-0463-3936-935C-ACA7C96A26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B51A51A-47B9-59E8-F88B-05D0ABDB8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ED2ABAB-C7B4-8568-5636-C54246D25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3FA4B8-DC9F-955B-2391-C702B22C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4062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69BCF-CAC1-5D3B-E198-04EB98E7A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36D63D-30E9-6B21-EF37-8B7491D08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5F5208-C205-E78D-0350-E3DF5451E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52D16F2-096C-6A73-13BB-4CB7560E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BDF2AEE-EA2A-5238-FD9D-CA31BFEED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4441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D7AB51-62FE-60ED-7EC9-5793942C32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A67326-EDAE-5250-D482-152C40CA9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55B310-AD07-D8C8-49CF-900C26CA3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8BF3052-5D14-7223-C747-BBB6C2CB7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4DF3B8-6A1D-1FD8-49CB-14E6DCC10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19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E53920-CA5D-666D-C57D-F726A3A7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F824D0-3554-7A81-647E-F9F56D7133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F78A5AE-801B-FF64-13BC-9E8945583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5374845-8C6D-BE47-0C6D-E83B0B3C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566D0F2-9EF1-31D2-515B-3C817F95B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69BDA69-EC7D-CCE9-FB2A-AAE1897A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6984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8F2287-39A5-C161-3081-82F409696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3D81359-C08A-D8F3-08DF-EAE67C55D8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0480DB4-44D6-5C32-E2BF-E10CC631E0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ACA8EC2-863A-85D2-0347-9B2362C81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2E25BD3-CB30-58E9-52E4-3AA8B7E3EA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965E55-4E81-E338-2F7E-4ACF67698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D8F3A0D-A67F-ED0F-BE66-EC3B3A1F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62718D9-9156-4219-3437-E592918D5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539401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0F9529-A760-15A6-1224-CD02494BE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6DB2B146-75C0-E96A-03B3-9D2E78CBA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5EF53AB-7082-993D-DACB-A0920CFAD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B409BAA-E9EF-30B6-F409-89A92ED9E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8590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CAF104D-D7DC-5580-37DE-074351A12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0C8FABF-0B44-5DB4-900C-C63935280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BB77AA-63E0-A174-FB63-F2DB12E24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204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1031B9C-4604-DB90-199B-65B2DB5E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43AACCA-6C39-3931-6CD0-12B0CFDD6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2F9CDD2-5932-CBF3-1087-E617562D0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E40096D-A8A1-6B4D-925C-B05D84F0B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6DC2DB9-5481-AEA2-0BCA-770EF984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982CDA4-5C86-8569-101B-C8E09D16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41771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D493F9-8684-367A-E4DA-D59295920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F08D428-839B-913E-AB39-A5CCE16F5C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B3F2DDA-E03A-5176-8C99-B569FDAEE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66EF8A-D854-A4F5-07AE-7CEFA488A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C31602F-80A4-2B62-A1E9-30E637D2A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6FE8401-2CB1-91B8-3561-2498BA52A5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494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BCF62B-269B-3DB5-1C79-EBCD0DBE6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2705996-04A3-E634-C375-CF0D9F6FB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2242DE-1347-C8D1-5226-336CA6EE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0F2DFDD-9A51-7402-576D-DCA93094A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C2B089-E5C7-21C5-035A-C170C1B21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97089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06B11D4-038E-6486-1BAB-318AF52378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837DCD-EDED-1A36-4A81-6579253857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88B1BA-647C-60B3-2D10-FD59B7FF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151FCE5-704B-7286-F1AD-BD779C560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2CF941-527C-D3B9-592B-423338146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457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0D937E1-C41A-07F8-E21F-405D4A14F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E9C1A3-6839-663A-AB27-5AB1B60A91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7BB10D-6821-6EBA-8B11-97EA531AD7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72E5CE-6459-4F3A-8BD2-74E8167E46B7}" type="datetimeFigureOut">
              <a:rPr lang="zh-TW" altLang="en-US" smtClean="0"/>
              <a:t>2026/8/11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134FD2C-BB9F-F094-221E-23EFD300DE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1CCC16-DCFA-9E23-26D2-4E3125B09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46464-0C2F-40E6-ACD2-1D1D6073F03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7488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&amp;ehk=aTbhyXfKRWd77U2Dz6NrVpNpZrUymD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B4389691-135E-F8C8-C4AF-2B58E3A2BAB1}"/>
              </a:ext>
            </a:extLst>
          </p:cNvPr>
          <p:cNvSpPr/>
          <p:nvPr/>
        </p:nvSpPr>
        <p:spPr>
          <a:xfrm>
            <a:off x="240146" y="184727"/>
            <a:ext cx="1182254" cy="1958109"/>
          </a:xfrm>
          <a:prstGeom prst="roundRect">
            <a:avLst>
              <a:gd name="adj" fmla="val 6511"/>
            </a:avLst>
          </a:prstGeom>
          <a:solidFill>
            <a:schemeClr val="tx2">
              <a:lumMod val="10000"/>
              <a:lumOff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前端</a:t>
            </a:r>
            <a:endParaRPr lang="en-US" altLang="zh-TW" b="1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ctr"/>
            <a:r>
              <a:rPr lang="en-US" altLang="zh-TW" sz="1200" b="1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(Client)</a:t>
            </a:r>
            <a:endParaRPr lang="zh-TW" altLang="en-US" sz="1200" b="1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5" name="矩形: 圓角 4">
            <a:extLst>
              <a:ext uri="{FF2B5EF4-FFF2-40B4-BE49-F238E27FC236}">
                <a16:creationId xmlns:a16="http://schemas.microsoft.com/office/drawing/2014/main" id="{0AB457FB-83ED-E9E8-3F6D-5F402C6CAA03}"/>
              </a:ext>
            </a:extLst>
          </p:cNvPr>
          <p:cNvSpPr/>
          <p:nvPr/>
        </p:nvSpPr>
        <p:spPr>
          <a:xfrm>
            <a:off x="240146" y="2429163"/>
            <a:ext cx="1182254" cy="1978891"/>
          </a:xfrm>
          <a:prstGeom prst="roundRect">
            <a:avLst>
              <a:gd name="adj" fmla="val 6511"/>
            </a:avLst>
          </a:prstGeom>
          <a:solidFill>
            <a:srgbClr val="F2FBE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後端</a:t>
            </a:r>
            <a:endParaRPr lang="en-US" altLang="zh-TW" b="1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ctr"/>
            <a:r>
              <a:rPr lang="en-US" altLang="zh-TW" sz="1200" b="1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(Server)</a:t>
            </a:r>
          </a:p>
          <a:p>
            <a:pPr algn="ctr"/>
            <a:r>
              <a:rPr lang="en-US" altLang="zh-TW" sz="1200" b="1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NET 10 API</a:t>
            </a:r>
            <a:endParaRPr lang="zh-TW" altLang="en-US" sz="1200" b="1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62F710E5-11AA-4435-6510-F7898204B679}"/>
              </a:ext>
            </a:extLst>
          </p:cNvPr>
          <p:cNvSpPr/>
          <p:nvPr/>
        </p:nvSpPr>
        <p:spPr>
          <a:xfrm>
            <a:off x="240146" y="4673600"/>
            <a:ext cx="1182254" cy="1958109"/>
          </a:xfrm>
          <a:prstGeom prst="roundRect">
            <a:avLst>
              <a:gd name="adj" fmla="val 3386"/>
            </a:avLst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資料層</a:t>
            </a:r>
            <a:endParaRPr lang="en-US" altLang="zh-TW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 algn="ctr"/>
            <a:r>
              <a:rPr lang="en-US" altLang="zh-TW" sz="1200" b="1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(Data)</a:t>
            </a:r>
            <a:endParaRPr lang="zh-TW" altLang="en-US" sz="1200" b="1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FA3C65D2-E48D-3453-B820-10757BAE8581}"/>
              </a:ext>
            </a:extLst>
          </p:cNvPr>
          <p:cNvSpPr/>
          <p:nvPr/>
        </p:nvSpPr>
        <p:spPr>
          <a:xfrm>
            <a:off x="1570182" y="184727"/>
            <a:ext cx="7795491" cy="1958109"/>
          </a:xfrm>
          <a:prstGeom prst="roundRect">
            <a:avLst>
              <a:gd name="adj" fmla="val 4875"/>
            </a:avLst>
          </a:prstGeom>
          <a:solidFill>
            <a:srgbClr val="F5F9FD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F36938ED-C4A9-BC9B-9BF4-48C3BF5E7A17}"/>
              </a:ext>
            </a:extLst>
          </p:cNvPr>
          <p:cNvSpPr/>
          <p:nvPr/>
        </p:nvSpPr>
        <p:spPr>
          <a:xfrm>
            <a:off x="3181646" y="300181"/>
            <a:ext cx="4370200" cy="1727200"/>
          </a:xfrm>
          <a:prstGeom prst="roundRect">
            <a:avLst>
              <a:gd name="adj" fmla="val 383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BBD81B2-3BE9-2855-3D6A-26E307437C6D}"/>
              </a:ext>
            </a:extLst>
          </p:cNvPr>
          <p:cNvSpPr txBox="1"/>
          <p:nvPr/>
        </p:nvSpPr>
        <p:spPr>
          <a:xfrm>
            <a:off x="3278061" y="397164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前端技術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9F473469-5C22-218B-EA84-CB196175842A}"/>
              </a:ext>
            </a:extLst>
          </p:cNvPr>
          <p:cNvSpPr/>
          <p:nvPr/>
        </p:nvSpPr>
        <p:spPr>
          <a:xfrm>
            <a:off x="7699628" y="300181"/>
            <a:ext cx="1496291" cy="1727200"/>
          </a:xfrm>
          <a:prstGeom prst="roundRect">
            <a:avLst>
              <a:gd name="adj" fmla="val 3833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B65A9924-3552-1DD2-D2AC-78E27167A797}"/>
              </a:ext>
            </a:extLst>
          </p:cNvPr>
          <p:cNvSpPr txBox="1"/>
          <p:nvPr/>
        </p:nvSpPr>
        <p:spPr>
          <a:xfrm>
            <a:off x="7816831" y="397164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前端功能模組</a:t>
            </a:r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9BBD5927-6C5C-5743-FD59-3B6A245AEBF7}"/>
              </a:ext>
            </a:extLst>
          </p:cNvPr>
          <p:cNvSpPr/>
          <p:nvPr/>
        </p:nvSpPr>
        <p:spPr>
          <a:xfrm>
            <a:off x="7816831" y="801923"/>
            <a:ext cx="1261884" cy="304799"/>
          </a:xfrm>
          <a:prstGeom prst="roundRect">
            <a:avLst>
              <a:gd name="adj" fmla="val 18513"/>
            </a:avLst>
          </a:prstGeom>
          <a:solidFill>
            <a:schemeClr val="tx2">
              <a:lumMod val="10000"/>
              <a:lumOff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租約管理</a:t>
            </a:r>
            <a:endParaRPr lang="zh-TW" altLang="en-US" sz="1000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2B36BF3F-B9AE-B77B-672B-E296BC53B780}"/>
              </a:ext>
            </a:extLst>
          </p:cNvPr>
          <p:cNvSpPr/>
          <p:nvPr/>
        </p:nvSpPr>
        <p:spPr>
          <a:xfrm>
            <a:off x="7816831" y="1203704"/>
            <a:ext cx="1261884" cy="304799"/>
          </a:xfrm>
          <a:prstGeom prst="roundRect">
            <a:avLst>
              <a:gd name="adj" fmla="val 18513"/>
            </a:avLst>
          </a:prstGeom>
          <a:solidFill>
            <a:schemeClr val="tx2">
              <a:lumMod val="10000"/>
              <a:lumOff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房型管理</a:t>
            </a:r>
            <a:endParaRPr lang="zh-TW" altLang="en-US" sz="1000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23406C0-BFE2-51D1-6145-5D52226E83F7}"/>
              </a:ext>
            </a:extLst>
          </p:cNvPr>
          <p:cNvSpPr/>
          <p:nvPr/>
        </p:nvSpPr>
        <p:spPr>
          <a:xfrm>
            <a:off x="7816831" y="1605485"/>
            <a:ext cx="1261884" cy="304799"/>
          </a:xfrm>
          <a:prstGeom prst="roundRect">
            <a:avLst>
              <a:gd name="adj" fmla="val 18513"/>
            </a:avLst>
          </a:prstGeom>
          <a:solidFill>
            <a:schemeClr val="tx2">
              <a:lumMod val="10000"/>
              <a:lumOff val="90000"/>
            </a:schemeClr>
          </a:solidFill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其他模組</a:t>
            </a:r>
            <a:endParaRPr lang="zh-TW" altLang="en-US" sz="1000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6" name="矩形: 圓角 25">
            <a:extLst>
              <a:ext uri="{FF2B5EF4-FFF2-40B4-BE49-F238E27FC236}">
                <a16:creationId xmlns:a16="http://schemas.microsoft.com/office/drawing/2014/main" id="{447C1DB9-7A5C-8A75-DD54-825CEEE2EC6D}"/>
              </a:ext>
            </a:extLst>
          </p:cNvPr>
          <p:cNvSpPr/>
          <p:nvPr/>
        </p:nvSpPr>
        <p:spPr>
          <a:xfrm>
            <a:off x="1570182" y="2429162"/>
            <a:ext cx="7795490" cy="1978891"/>
          </a:xfrm>
          <a:prstGeom prst="roundRect">
            <a:avLst>
              <a:gd name="adj" fmla="val 6511"/>
            </a:avLst>
          </a:prstGeom>
          <a:solidFill>
            <a:srgbClr val="F2FBEF"/>
          </a:solidFill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28" name="矩形: 圓角 27">
            <a:extLst>
              <a:ext uri="{FF2B5EF4-FFF2-40B4-BE49-F238E27FC236}">
                <a16:creationId xmlns:a16="http://schemas.microsoft.com/office/drawing/2014/main" id="{6D9888FF-91F2-CDC7-FCEB-6ADAACCF8714}"/>
              </a:ext>
            </a:extLst>
          </p:cNvPr>
          <p:cNvSpPr/>
          <p:nvPr/>
        </p:nvSpPr>
        <p:spPr>
          <a:xfrm>
            <a:off x="3181646" y="2565400"/>
            <a:ext cx="1320802" cy="1727200"/>
          </a:xfrm>
          <a:prstGeom prst="roundRect">
            <a:avLst>
              <a:gd name="adj" fmla="val 38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796CD6C5-2235-1EF3-C2B9-7478A5EECD27}"/>
              </a:ext>
            </a:extLst>
          </p:cNvPr>
          <p:cNvSpPr txBox="1"/>
          <p:nvPr/>
        </p:nvSpPr>
        <p:spPr>
          <a:xfrm>
            <a:off x="3301719" y="2662383"/>
            <a:ext cx="108234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應用服務層</a:t>
            </a: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509768BC-5C72-15D8-6EF5-9C3FCFD93B93}"/>
              </a:ext>
            </a:extLst>
          </p:cNvPr>
          <p:cNvSpPr/>
          <p:nvPr/>
        </p:nvSpPr>
        <p:spPr>
          <a:xfrm>
            <a:off x="7699627" y="2565400"/>
            <a:ext cx="1481320" cy="1727200"/>
          </a:xfrm>
          <a:prstGeom prst="roundRect">
            <a:avLst>
              <a:gd name="adj" fmla="val 38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C2910D9-7C10-B637-C9EE-F7DD2802FA7E}"/>
              </a:ext>
            </a:extLst>
          </p:cNvPr>
          <p:cNvSpPr txBox="1"/>
          <p:nvPr/>
        </p:nvSpPr>
        <p:spPr>
          <a:xfrm>
            <a:off x="7852898" y="2662383"/>
            <a:ext cx="1189749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後端</a:t>
            </a:r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API</a:t>
            </a:r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模組</a:t>
            </a:r>
          </a:p>
        </p:txBody>
      </p:sp>
      <p:sp>
        <p:nvSpPr>
          <p:cNvPr id="42" name="矩形: 圓角 41">
            <a:extLst>
              <a:ext uri="{FF2B5EF4-FFF2-40B4-BE49-F238E27FC236}">
                <a16:creationId xmlns:a16="http://schemas.microsoft.com/office/drawing/2014/main" id="{6AB73A20-353C-CEAF-E854-FEE40D6D9D97}"/>
              </a:ext>
            </a:extLst>
          </p:cNvPr>
          <p:cNvSpPr/>
          <p:nvPr/>
        </p:nvSpPr>
        <p:spPr>
          <a:xfrm>
            <a:off x="7816831" y="3067143"/>
            <a:ext cx="1261884" cy="307776"/>
          </a:xfrm>
          <a:prstGeom prst="roundRect">
            <a:avLst>
              <a:gd name="adj" fmla="val 6511"/>
            </a:avLst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租約</a:t>
            </a:r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API</a:t>
            </a:r>
            <a:endParaRPr lang="zh-TW" altLang="en-US" sz="1000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6" name="矩形: 圓角 45">
            <a:extLst>
              <a:ext uri="{FF2B5EF4-FFF2-40B4-BE49-F238E27FC236}">
                <a16:creationId xmlns:a16="http://schemas.microsoft.com/office/drawing/2014/main" id="{D5DD34AD-E498-E135-C261-76A138DCE600}"/>
              </a:ext>
            </a:extLst>
          </p:cNvPr>
          <p:cNvSpPr/>
          <p:nvPr/>
        </p:nvSpPr>
        <p:spPr>
          <a:xfrm>
            <a:off x="7816831" y="3471902"/>
            <a:ext cx="1261884" cy="307776"/>
          </a:xfrm>
          <a:prstGeom prst="roundRect">
            <a:avLst>
              <a:gd name="adj" fmla="val 6511"/>
            </a:avLst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房型</a:t>
            </a:r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API</a:t>
            </a:r>
            <a:endParaRPr lang="zh-TW" altLang="en-US" sz="1000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48" name="矩形: 圓角 47">
            <a:extLst>
              <a:ext uri="{FF2B5EF4-FFF2-40B4-BE49-F238E27FC236}">
                <a16:creationId xmlns:a16="http://schemas.microsoft.com/office/drawing/2014/main" id="{AACD0A19-E5FF-CB39-B645-D5E09D199928}"/>
              </a:ext>
            </a:extLst>
          </p:cNvPr>
          <p:cNvSpPr/>
          <p:nvPr/>
        </p:nvSpPr>
        <p:spPr>
          <a:xfrm>
            <a:off x="7816831" y="3875690"/>
            <a:ext cx="1261884" cy="307776"/>
          </a:xfrm>
          <a:prstGeom prst="roundRect">
            <a:avLst>
              <a:gd name="adj" fmla="val 6511"/>
            </a:avLst>
          </a:prstGeom>
          <a:solidFill>
            <a:schemeClr val="accent6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其他</a:t>
            </a:r>
            <a:r>
              <a:rPr lang="en-US" altLang="zh-TW" sz="12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API</a:t>
            </a:r>
            <a:endParaRPr lang="zh-TW" altLang="en-US" sz="1000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50" name="矩形: 圓角 49">
            <a:extLst>
              <a:ext uri="{FF2B5EF4-FFF2-40B4-BE49-F238E27FC236}">
                <a16:creationId xmlns:a16="http://schemas.microsoft.com/office/drawing/2014/main" id="{6BFB3F7E-EE1D-A2ED-221E-939848306EA7}"/>
              </a:ext>
            </a:extLst>
          </p:cNvPr>
          <p:cNvSpPr/>
          <p:nvPr/>
        </p:nvSpPr>
        <p:spPr>
          <a:xfrm>
            <a:off x="4655719" y="2565400"/>
            <a:ext cx="1320802" cy="1727200"/>
          </a:xfrm>
          <a:prstGeom prst="roundRect">
            <a:avLst>
              <a:gd name="adj" fmla="val 38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ADDA2A6-0393-F1DE-17DC-E18217C92B2F}"/>
              </a:ext>
            </a:extLst>
          </p:cNvPr>
          <p:cNvSpPr txBox="1"/>
          <p:nvPr/>
        </p:nvSpPr>
        <p:spPr>
          <a:xfrm>
            <a:off x="4950799" y="2662383"/>
            <a:ext cx="72327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中介層</a:t>
            </a:r>
          </a:p>
        </p:txBody>
      </p:sp>
      <p:sp>
        <p:nvSpPr>
          <p:cNvPr id="54" name="矩形: 圓角 53">
            <a:extLst>
              <a:ext uri="{FF2B5EF4-FFF2-40B4-BE49-F238E27FC236}">
                <a16:creationId xmlns:a16="http://schemas.microsoft.com/office/drawing/2014/main" id="{E81C94BB-C9F5-24A1-2EE6-2EEA5A21584A}"/>
              </a:ext>
            </a:extLst>
          </p:cNvPr>
          <p:cNvSpPr/>
          <p:nvPr/>
        </p:nvSpPr>
        <p:spPr>
          <a:xfrm>
            <a:off x="6156595" y="2565400"/>
            <a:ext cx="1320802" cy="1727200"/>
          </a:xfrm>
          <a:prstGeom prst="roundRect">
            <a:avLst>
              <a:gd name="adj" fmla="val 3833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1D70DF29-160C-465B-4132-CDC8850632FD}"/>
              </a:ext>
            </a:extLst>
          </p:cNvPr>
          <p:cNvSpPr txBox="1"/>
          <p:nvPr/>
        </p:nvSpPr>
        <p:spPr>
          <a:xfrm>
            <a:off x="6276668" y="2662383"/>
            <a:ext cx="108234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基礎服務層</a:t>
            </a:r>
          </a:p>
        </p:txBody>
      </p:sp>
      <p:sp>
        <p:nvSpPr>
          <p:cNvPr id="58" name="矩形: 圓角 57">
            <a:extLst>
              <a:ext uri="{FF2B5EF4-FFF2-40B4-BE49-F238E27FC236}">
                <a16:creationId xmlns:a16="http://schemas.microsoft.com/office/drawing/2014/main" id="{CE8D01DE-C2D9-D0EB-DE15-98852FF7A9E4}"/>
              </a:ext>
            </a:extLst>
          </p:cNvPr>
          <p:cNvSpPr/>
          <p:nvPr/>
        </p:nvSpPr>
        <p:spPr>
          <a:xfrm>
            <a:off x="1570182" y="4652818"/>
            <a:ext cx="4525818" cy="1978891"/>
          </a:xfrm>
          <a:prstGeom prst="roundRect">
            <a:avLst>
              <a:gd name="adj" fmla="val 6511"/>
            </a:avLst>
          </a:prstGeom>
          <a:solidFill>
            <a:srgbClr val="FEFAF8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zh-TW" altLang="en-US" sz="1200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F7E27235-A43C-FCAB-8DF6-EDEB472943A9}"/>
              </a:ext>
            </a:extLst>
          </p:cNvPr>
          <p:cNvSpPr/>
          <p:nvPr/>
        </p:nvSpPr>
        <p:spPr>
          <a:xfrm>
            <a:off x="1690251" y="4814454"/>
            <a:ext cx="1320802" cy="1727200"/>
          </a:xfrm>
          <a:prstGeom prst="roundRect">
            <a:avLst>
              <a:gd name="adj" fmla="val 3833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1A07A20-CDAC-0231-6919-4D1999023776}"/>
              </a:ext>
            </a:extLst>
          </p:cNvPr>
          <p:cNvSpPr txBox="1"/>
          <p:nvPr/>
        </p:nvSpPr>
        <p:spPr>
          <a:xfrm>
            <a:off x="1989014" y="4883728"/>
            <a:ext cx="72327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2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資料庫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748EB1E8-FE28-040F-C578-772865D802BE}"/>
              </a:ext>
            </a:extLst>
          </p:cNvPr>
          <p:cNvSpPr/>
          <p:nvPr/>
        </p:nvSpPr>
        <p:spPr>
          <a:xfrm>
            <a:off x="3158834" y="4814454"/>
            <a:ext cx="1320802" cy="1727200"/>
          </a:xfrm>
          <a:prstGeom prst="roundRect">
            <a:avLst>
              <a:gd name="adj" fmla="val 3833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66" name="文字方塊 65">
            <a:extLst>
              <a:ext uri="{FF2B5EF4-FFF2-40B4-BE49-F238E27FC236}">
                <a16:creationId xmlns:a16="http://schemas.microsoft.com/office/drawing/2014/main" id="{02C51558-5374-0790-D9A7-7B92E3786B0E}"/>
              </a:ext>
            </a:extLst>
          </p:cNvPr>
          <p:cNvSpPr txBox="1"/>
          <p:nvPr/>
        </p:nvSpPr>
        <p:spPr>
          <a:xfrm>
            <a:off x="3278061" y="4893633"/>
            <a:ext cx="108234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2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資料存取層</a:t>
            </a: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FA455A81-CADB-549A-85FB-D94D88EFF81F}"/>
              </a:ext>
            </a:extLst>
          </p:cNvPr>
          <p:cNvSpPr/>
          <p:nvPr/>
        </p:nvSpPr>
        <p:spPr>
          <a:xfrm>
            <a:off x="4645889" y="4814454"/>
            <a:ext cx="1320802" cy="1727200"/>
          </a:xfrm>
          <a:prstGeom prst="roundRect">
            <a:avLst>
              <a:gd name="adj" fmla="val 3833"/>
            </a:avLst>
          </a:prstGeom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27CD6AE4-5806-18D4-A6BA-DCE773ACC5BE}"/>
              </a:ext>
            </a:extLst>
          </p:cNvPr>
          <p:cNvSpPr txBox="1"/>
          <p:nvPr/>
        </p:nvSpPr>
        <p:spPr>
          <a:xfrm>
            <a:off x="4854884" y="4902869"/>
            <a:ext cx="902811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2"/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快取資料</a:t>
            </a:r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CDE7084-E647-2836-B70A-483509653582}"/>
              </a:ext>
            </a:extLst>
          </p:cNvPr>
          <p:cNvSpPr txBox="1"/>
          <p:nvPr/>
        </p:nvSpPr>
        <p:spPr>
          <a:xfrm>
            <a:off x="3099103" y="3045002"/>
            <a:ext cx="893193" cy="990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邏輯處理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資料驗證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權限控管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端口限制</a:t>
            </a:r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6385DFAD-0CE9-DE90-2599-1953E7053C13}"/>
              </a:ext>
            </a:extLst>
          </p:cNvPr>
          <p:cNvSpPr txBox="1"/>
          <p:nvPr/>
        </p:nvSpPr>
        <p:spPr>
          <a:xfrm>
            <a:off x="4574471" y="3015327"/>
            <a:ext cx="1479892" cy="990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Exception Handle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JWT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驗證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CORS</a:t>
            </a: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Req/Res Model</a:t>
            </a:r>
            <a:endParaRPr lang="zh-TW" altLang="en-US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F2CCD0FB-5567-B81D-248C-518ECCC56A20}"/>
              </a:ext>
            </a:extLst>
          </p:cNvPr>
          <p:cNvSpPr txBox="1"/>
          <p:nvPr/>
        </p:nvSpPr>
        <p:spPr>
          <a:xfrm>
            <a:off x="6071954" y="3015327"/>
            <a:ext cx="1503938" cy="145200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日誌服務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en-US" altLang="zh-TW" sz="11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NLog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快取服務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(Redis)</a:t>
            </a: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排程管理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</a:t>
            </a:r>
            <a:r>
              <a:rPr lang="en-US" altLang="zh-TW" sz="11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Coravel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)</a:t>
            </a: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檔案處理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帳號驗證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(LDAP)</a:t>
            </a:r>
          </a:p>
          <a:p>
            <a:pPr>
              <a:lnSpc>
                <a:spcPts val="1800"/>
              </a:lnSpc>
            </a:pPr>
            <a:endParaRPr lang="zh-TW" altLang="en-US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F9557951-CFE0-2ED1-8AC4-9E8E72CC45B0}"/>
              </a:ext>
            </a:extLst>
          </p:cNvPr>
          <p:cNvSpPr txBox="1"/>
          <p:nvPr/>
        </p:nvSpPr>
        <p:spPr>
          <a:xfrm>
            <a:off x="1651029" y="5173214"/>
            <a:ext cx="893193" cy="99033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公司資料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租約資料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房型資料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其他資料</a:t>
            </a:r>
          </a:p>
        </p:txBody>
      </p:sp>
      <p:sp>
        <p:nvSpPr>
          <p:cNvPr id="79" name="文字方塊 78">
            <a:extLst>
              <a:ext uri="{FF2B5EF4-FFF2-40B4-BE49-F238E27FC236}">
                <a16:creationId xmlns:a16="http://schemas.microsoft.com/office/drawing/2014/main" id="{12E0844D-83E1-3780-BDA9-D67D432C3096}"/>
              </a:ext>
            </a:extLst>
          </p:cNvPr>
          <p:cNvSpPr txBox="1"/>
          <p:nvPr/>
        </p:nvSpPr>
        <p:spPr>
          <a:xfrm>
            <a:off x="3130280" y="5147095"/>
            <a:ext cx="1172116" cy="12211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Dapper ORM</a:t>
            </a: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輕量快速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高效能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SQL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彈性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預存支援</a:t>
            </a:r>
          </a:p>
        </p:txBody>
      </p: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11FA793C-8C73-4F7D-08ED-88FA4844A320}"/>
              </a:ext>
            </a:extLst>
          </p:cNvPr>
          <p:cNvSpPr txBox="1"/>
          <p:nvPr/>
        </p:nvSpPr>
        <p:spPr>
          <a:xfrm>
            <a:off x="4598863" y="5147095"/>
            <a:ext cx="1125629" cy="12211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Redis-Server</a:t>
            </a: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查詢快取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暫存資料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系統降載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endParaRPr lang="zh-TW" altLang="en-US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82" name="圖片 81" descr="Html PNG para descargar gratis">
            <a:extLst>
              <a:ext uri="{FF2B5EF4-FFF2-40B4-BE49-F238E27FC236}">
                <a16:creationId xmlns:a16="http://schemas.microsoft.com/office/drawing/2014/main" id="{7F04C8BC-78E6-D22B-F342-B54866769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8515" y="908903"/>
            <a:ext cx="775645" cy="775645"/>
          </a:xfrm>
          <a:prstGeom prst="rect">
            <a:avLst/>
          </a:prstGeom>
        </p:spPr>
      </p:pic>
      <p:pic>
        <p:nvPicPr>
          <p:cNvPr id="84" name="圖片 83" descr="W3c Css Logo">
            <a:extLst>
              <a:ext uri="{FF2B5EF4-FFF2-40B4-BE49-F238E27FC236}">
                <a16:creationId xmlns:a16="http://schemas.microsoft.com/office/drawing/2014/main" id="{DA220942-EF58-F938-D97D-A6A9CB571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0872" y="929149"/>
            <a:ext cx="735152" cy="735152"/>
          </a:xfrm>
          <a:prstGeom prst="rect">
            <a:avLst/>
          </a:prstGeom>
        </p:spPr>
      </p:pic>
      <p:pic>
        <p:nvPicPr>
          <p:cNvPr id="85" name="圖片 84" descr="Javascript Png">
            <a:extLst>
              <a:ext uri="{FF2B5EF4-FFF2-40B4-BE49-F238E27FC236}">
                <a16:creationId xmlns:a16="http://schemas.microsoft.com/office/drawing/2014/main" id="{0B876123-B25F-0FE9-C564-AC870E97D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331" y="931936"/>
            <a:ext cx="1297029" cy="729579"/>
          </a:xfrm>
          <a:prstGeom prst="rect">
            <a:avLst/>
          </a:prstGeom>
        </p:spPr>
      </p:pic>
      <p:pic>
        <p:nvPicPr>
          <p:cNvPr id="94" name="圖片 93" descr="Jquery Icon Png">
            <a:extLst>
              <a:ext uri="{FF2B5EF4-FFF2-40B4-BE49-F238E27FC236}">
                <a16:creationId xmlns:a16="http://schemas.microsoft.com/office/drawing/2014/main" id="{322F40EF-191F-8E2A-CA91-C7F4DA3875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4900" y="970854"/>
            <a:ext cx="772315" cy="651743"/>
          </a:xfrm>
          <a:prstGeom prst="rect">
            <a:avLst/>
          </a:prstGeom>
        </p:spPr>
      </p:pic>
      <p:pic>
        <p:nvPicPr>
          <p:cNvPr id="95" name="圖片 94" descr="Creating Adminlte vue components part 1. Designing API component | by ...">
            <a:extLst>
              <a:ext uri="{FF2B5EF4-FFF2-40B4-BE49-F238E27FC236}">
                <a16:creationId xmlns:a16="http://schemas.microsoft.com/office/drawing/2014/main" id="{4E088464-DB73-ED42-6426-4A8A035AD1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4589" y="928587"/>
            <a:ext cx="736276" cy="736276"/>
          </a:xfrm>
          <a:prstGeom prst="rect">
            <a:avLst/>
          </a:prstGeom>
        </p:spPr>
      </p:pic>
      <p:pic>
        <p:nvPicPr>
          <p:cNvPr id="97" name="圖片 96" descr="Monitor Icon Png">
            <a:extLst>
              <a:ext uri="{FF2B5EF4-FFF2-40B4-BE49-F238E27FC236}">
                <a16:creationId xmlns:a16="http://schemas.microsoft.com/office/drawing/2014/main" id="{C1396281-53FD-187E-6C0C-EA452D7EE35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8073" y="554029"/>
            <a:ext cx="1101874" cy="846931"/>
          </a:xfrm>
          <a:prstGeom prst="rect">
            <a:avLst/>
          </a:prstGeom>
        </p:spPr>
      </p:pic>
      <p:sp>
        <p:nvSpPr>
          <p:cNvPr id="99" name="文字方塊 98">
            <a:extLst>
              <a:ext uri="{FF2B5EF4-FFF2-40B4-BE49-F238E27FC236}">
                <a16:creationId xmlns:a16="http://schemas.microsoft.com/office/drawing/2014/main" id="{D494C94A-5E53-A4FF-DAB8-298DE65D4740}"/>
              </a:ext>
            </a:extLst>
          </p:cNvPr>
          <p:cNvSpPr txBox="1"/>
          <p:nvPr/>
        </p:nvSpPr>
        <p:spPr>
          <a:xfrm>
            <a:off x="1719254" y="1562596"/>
            <a:ext cx="12595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400" dirty="0">
                <a:solidFill>
                  <a:schemeClr val="accent1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Web Browser</a:t>
            </a:r>
            <a:endParaRPr lang="zh-TW" altLang="en-US" sz="1400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pic>
        <p:nvPicPr>
          <p:cNvPr id="100" name="圖片 99" descr=".Net Framework, .Net Libraries, .Net SDK, .Net 5, .Net 6 PNG">
            <a:extLst>
              <a:ext uri="{FF2B5EF4-FFF2-40B4-BE49-F238E27FC236}">
                <a16:creationId xmlns:a16="http://schemas.microsoft.com/office/drawing/2014/main" id="{B8F18F32-DF19-CD6D-F02F-247E6F98CE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6932" y="2637113"/>
            <a:ext cx="1057965" cy="1057965"/>
          </a:xfrm>
          <a:prstGeom prst="rect">
            <a:avLst/>
          </a:prstGeom>
        </p:spPr>
      </p:pic>
      <p:sp>
        <p:nvSpPr>
          <p:cNvPr id="102" name="文字方塊 101">
            <a:extLst>
              <a:ext uri="{FF2B5EF4-FFF2-40B4-BE49-F238E27FC236}">
                <a16:creationId xmlns:a16="http://schemas.microsoft.com/office/drawing/2014/main" id="{0DF9FA2A-619E-7AC5-44A2-195511CC2F9F}"/>
              </a:ext>
            </a:extLst>
          </p:cNvPr>
          <p:cNvSpPr txBox="1"/>
          <p:nvPr/>
        </p:nvSpPr>
        <p:spPr>
          <a:xfrm>
            <a:off x="1685180" y="3779678"/>
            <a:ext cx="1381468" cy="523220"/>
          </a:xfrm>
          <a:prstGeom prst="rect">
            <a:avLst/>
          </a:prstGeom>
          <a:solidFill>
            <a:srgbClr val="F2FBEF"/>
          </a:solidFill>
          <a:ln>
            <a:solidFill>
              <a:srgbClr val="F2FBE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 anchor="ctr">
            <a:spAutoFit/>
          </a:bodyPr>
          <a:lstStyle/>
          <a:p>
            <a:pPr algn="ctr"/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ASP .NET Core</a:t>
            </a:r>
          </a:p>
          <a:p>
            <a:pPr algn="ctr"/>
            <a:r>
              <a:rPr lang="en-US" altLang="zh-TW" sz="1400" dirty="0">
                <a:solidFill>
                  <a:schemeClr val="accent6">
                    <a:lumMod val="75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Web API</a:t>
            </a:r>
            <a:endParaRPr lang="zh-TW" altLang="en-US" sz="1400" dirty="0">
              <a:solidFill>
                <a:schemeClr val="accent6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4" name="矩形: 圓角 103">
            <a:extLst>
              <a:ext uri="{FF2B5EF4-FFF2-40B4-BE49-F238E27FC236}">
                <a16:creationId xmlns:a16="http://schemas.microsoft.com/office/drawing/2014/main" id="{A6158ABE-54BB-24AA-ED80-A937B0CEF403}"/>
              </a:ext>
            </a:extLst>
          </p:cNvPr>
          <p:cNvSpPr/>
          <p:nvPr/>
        </p:nvSpPr>
        <p:spPr>
          <a:xfrm>
            <a:off x="10004161" y="212436"/>
            <a:ext cx="1945951" cy="1745671"/>
          </a:xfrm>
          <a:prstGeom prst="roundRect">
            <a:avLst>
              <a:gd name="adj" fmla="val 6511"/>
            </a:avLst>
          </a:prstGeom>
          <a:solidFill>
            <a:srgbClr val="FCF2FB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altLang="zh-TW" sz="1200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06" name="文字方塊 105">
            <a:extLst>
              <a:ext uri="{FF2B5EF4-FFF2-40B4-BE49-F238E27FC236}">
                <a16:creationId xmlns:a16="http://schemas.microsoft.com/office/drawing/2014/main" id="{B5745C31-4347-4C75-5A93-F187411291B9}"/>
              </a:ext>
            </a:extLst>
          </p:cNvPr>
          <p:cNvSpPr txBox="1"/>
          <p:nvPr/>
        </p:nvSpPr>
        <p:spPr>
          <a:xfrm>
            <a:off x="10078903" y="322071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accent5">
                    <a:lumMod val="5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授權與認證</a:t>
            </a:r>
          </a:p>
        </p:txBody>
      </p:sp>
      <p:pic>
        <p:nvPicPr>
          <p:cNvPr id="107" name="圖片 106" descr="案例 - 可道云-私有云存储&amp;协同办公平台_企业网盘_企业云盘_网盘_云盘">
            <a:extLst>
              <a:ext uri="{FF2B5EF4-FFF2-40B4-BE49-F238E27FC236}">
                <a16:creationId xmlns:a16="http://schemas.microsoft.com/office/drawing/2014/main" id="{935A9737-ECB9-9635-ABC9-E439C307C6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14214" y="1364325"/>
            <a:ext cx="551130" cy="551130"/>
          </a:xfrm>
          <a:prstGeom prst="rect">
            <a:avLst/>
          </a:prstGeom>
        </p:spPr>
      </p:pic>
      <p:pic>
        <p:nvPicPr>
          <p:cNvPr id="108" name="圖片 107" descr="JWT (JSON Web Token) Authentication">
            <a:extLst>
              <a:ext uri="{FF2B5EF4-FFF2-40B4-BE49-F238E27FC236}">
                <a16:creationId xmlns:a16="http://schemas.microsoft.com/office/drawing/2014/main" id="{8D310BA0-67B2-5407-58F2-69BD33FF82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5396" y="1377868"/>
            <a:ext cx="808067" cy="505042"/>
          </a:xfrm>
          <a:prstGeom prst="rect">
            <a:avLst/>
          </a:prstGeom>
        </p:spPr>
      </p:pic>
      <p:sp>
        <p:nvSpPr>
          <p:cNvPr id="110" name="文字方塊 109">
            <a:extLst>
              <a:ext uri="{FF2B5EF4-FFF2-40B4-BE49-F238E27FC236}">
                <a16:creationId xmlns:a16="http://schemas.microsoft.com/office/drawing/2014/main" id="{5231C301-8301-E615-D659-68B8D2F817FA}"/>
              </a:ext>
            </a:extLst>
          </p:cNvPr>
          <p:cNvSpPr txBox="1"/>
          <p:nvPr/>
        </p:nvSpPr>
        <p:spPr>
          <a:xfrm>
            <a:off x="10068924" y="732751"/>
            <a:ext cx="1241045" cy="528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驗證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AD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帳號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-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使用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JWT 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授權</a:t>
            </a:r>
          </a:p>
        </p:txBody>
      </p:sp>
      <p:sp>
        <p:nvSpPr>
          <p:cNvPr id="111" name="箭號: 向左 110">
            <a:extLst>
              <a:ext uri="{FF2B5EF4-FFF2-40B4-BE49-F238E27FC236}">
                <a16:creationId xmlns:a16="http://schemas.microsoft.com/office/drawing/2014/main" id="{35ABC23C-6659-929F-6634-E3D0E2DCA4EB}"/>
              </a:ext>
            </a:extLst>
          </p:cNvPr>
          <p:cNvSpPr/>
          <p:nvPr/>
        </p:nvSpPr>
        <p:spPr>
          <a:xfrm>
            <a:off x="9490960" y="1010282"/>
            <a:ext cx="387914" cy="30699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3" name="箭號: 向左 112">
            <a:extLst>
              <a:ext uri="{FF2B5EF4-FFF2-40B4-BE49-F238E27FC236}">
                <a16:creationId xmlns:a16="http://schemas.microsoft.com/office/drawing/2014/main" id="{8C40C11D-A092-4CDE-930D-B001A1BC0B18}"/>
              </a:ext>
            </a:extLst>
          </p:cNvPr>
          <p:cNvSpPr/>
          <p:nvPr/>
        </p:nvSpPr>
        <p:spPr>
          <a:xfrm rot="16200000">
            <a:off x="8253815" y="2168624"/>
            <a:ext cx="387914" cy="30699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5" name="文字方塊 114">
            <a:extLst>
              <a:ext uri="{FF2B5EF4-FFF2-40B4-BE49-F238E27FC236}">
                <a16:creationId xmlns:a16="http://schemas.microsoft.com/office/drawing/2014/main" id="{610AE322-5042-FD6C-AF93-17E9FE97D397}"/>
              </a:ext>
            </a:extLst>
          </p:cNvPr>
          <p:cNvSpPr txBox="1"/>
          <p:nvPr/>
        </p:nvSpPr>
        <p:spPr>
          <a:xfrm>
            <a:off x="8541901" y="2137080"/>
            <a:ext cx="1462260" cy="297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HTTPS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Restful API</a:t>
            </a:r>
          </a:p>
        </p:txBody>
      </p:sp>
      <p:sp>
        <p:nvSpPr>
          <p:cNvPr id="117" name="箭號: 向左 116">
            <a:extLst>
              <a:ext uri="{FF2B5EF4-FFF2-40B4-BE49-F238E27FC236}">
                <a16:creationId xmlns:a16="http://schemas.microsoft.com/office/drawing/2014/main" id="{7B66BE07-D7D0-C504-C3FC-3AC95E467768}"/>
              </a:ext>
            </a:extLst>
          </p:cNvPr>
          <p:cNvSpPr/>
          <p:nvPr/>
        </p:nvSpPr>
        <p:spPr>
          <a:xfrm rot="16200000">
            <a:off x="2139618" y="4400527"/>
            <a:ext cx="387914" cy="30699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1" name="矩形: 圓角 120">
            <a:extLst>
              <a:ext uri="{FF2B5EF4-FFF2-40B4-BE49-F238E27FC236}">
                <a16:creationId xmlns:a16="http://schemas.microsoft.com/office/drawing/2014/main" id="{7E0B911A-5621-3C5B-E148-6DE6ED481F85}"/>
              </a:ext>
            </a:extLst>
          </p:cNvPr>
          <p:cNvSpPr/>
          <p:nvPr/>
        </p:nvSpPr>
        <p:spPr>
          <a:xfrm>
            <a:off x="10022293" y="2418198"/>
            <a:ext cx="1945950" cy="3577667"/>
          </a:xfrm>
          <a:prstGeom prst="roundRect">
            <a:avLst>
              <a:gd name="adj" fmla="val 4875"/>
            </a:avLst>
          </a:prstGeom>
          <a:solidFill>
            <a:srgbClr val="F5F9FD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pPr algn="ctr"/>
            <a:endParaRPr lang="zh-TW" altLang="en-US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22" name="文字方塊 121">
            <a:extLst>
              <a:ext uri="{FF2B5EF4-FFF2-40B4-BE49-F238E27FC236}">
                <a16:creationId xmlns:a16="http://schemas.microsoft.com/office/drawing/2014/main" id="{108E688C-6E6E-2A58-7720-371BBA30D20B}"/>
              </a:ext>
            </a:extLst>
          </p:cNvPr>
          <p:cNvSpPr txBox="1"/>
          <p:nvPr/>
        </p:nvSpPr>
        <p:spPr>
          <a:xfrm>
            <a:off x="10089856" y="2604524"/>
            <a:ext cx="10823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4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部屬與維運</a:t>
            </a:r>
          </a:p>
        </p:txBody>
      </p:sp>
      <p:pic>
        <p:nvPicPr>
          <p:cNvPr id="123" name="圖片 122" descr="Iis Server Logo What Is IIS Web Server And What Does It Do?">
            <a:extLst>
              <a:ext uri="{FF2B5EF4-FFF2-40B4-BE49-F238E27FC236}">
                <a16:creationId xmlns:a16="http://schemas.microsoft.com/office/drawing/2014/main" id="{D114011B-FE02-EA88-5623-0FE2DB7066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492958" y="3004741"/>
            <a:ext cx="1004619" cy="1004619"/>
          </a:xfrm>
          <a:prstGeom prst="rect">
            <a:avLst/>
          </a:prstGeom>
        </p:spPr>
      </p:pic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925AC0EE-8135-5E23-3A02-AC446F647455}"/>
              </a:ext>
            </a:extLst>
          </p:cNvPr>
          <p:cNvSpPr txBox="1"/>
          <p:nvPr/>
        </p:nvSpPr>
        <p:spPr>
          <a:xfrm>
            <a:off x="10248909" y="3969103"/>
            <a:ext cx="1492716" cy="297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IIS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/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Windows Server</a:t>
            </a:r>
          </a:p>
        </p:txBody>
      </p:sp>
      <p:pic>
        <p:nvPicPr>
          <p:cNvPr id="132" name="圖片 131">
            <a:extLst>
              <a:ext uri="{FF2B5EF4-FFF2-40B4-BE49-F238E27FC236}">
                <a16:creationId xmlns:a16="http://schemas.microsoft.com/office/drawing/2014/main" id="{AE139836-1306-E277-E759-764E90B27AD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89780" y="3953013"/>
            <a:ext cx="2187884" cy="2187884"/>
          </a:xfrm>
          <a:prstGeom prst="rect">
            <a:avLst/>
          </a:prstGeom>
        </p:spPr>
      </p:pic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EE1C26D3-9FE9-3649-AEAA-C86B41D813F4}"/>
              </a:ext>
            </a:extLst>
          </p:cNvPr>
          <p:cNvSpPr txBox="1"/>
          <p:nvPr/>
        </p:nvSpPr>
        <p:spPr>
          <a:xfrm>
            <a:off x="10413759" y="5551823"/>
            <a:ext cx="1143262" cy="297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 err="1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Nlog</a:t>
            </a: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日誌監控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36" name="箭號: 向左 135">
            <a:extLst>
              <a:ext uri="{FF2B5EF4-FFF2-40B4-BE49-F238E27FC236}">
                <a16:creationId xmlns:a16="http://schemas.microsoft.com/office/drawing/2014/main" id="{E5E4DA60-8BC1-D25D-2245-C852C66294FD}"/>
              </a:ext>
            </a:extLst>
          </p:cNvPr>
          <p:cNvSpPr/>
          <p:nvPr/>
        </p:nvSpPr>
        <p:spPr>
          <a:xfrm rot="10800000">
            <a:off x="9487816" y="3346993"/>
            <a:ext cx="387914" cy="30699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矩形: 圓角 137">
            <a:extLst>
              <a:ext uri="{FF2B5EF4-FFF2-40B4-BE49-F238E27FC236}">
                <a16:creationId xmlns:a16="http://schemas.microsoft.com/office/drawing/2014/main" id="{16492172-AFFF-17D9-379E-E5C24946434D}"/>
              </a:ext>
            </a:extLst>
          </p:cNvPr>
          <p:cNvSpPr/>
          <p:nvPr/>
        </p:nvSpPr>
        <p:spPr>
          <a:xfrm>
            <a:off x="6407888" y="4673601"/>
            <a:ext cx="2957783" cy="1322264"/>
          </a:xfrm>
          <a:prstGeom prst="roundRect">
            <a:avLst>
              <a:gd name="adj" fmla="val 6511"/>
            </a:avLst>
          </a:prstGeom>
          <a:solidFill>
            <a:srgbClr val="FCF2FB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US" altLang="zh-TW" sz="1200" dirty="0">
              <a:solidFill>
                <a:schemeClr val="accent1">
                  <a:lumMod val="75000"/>
                </a:schemeClr>
              </a:solidFill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40" name="文字方塊 139">
            <a:extLst>
              <a:ext uri="{FF2B5EF4-FFF2-40B4-BE49-F238E27FC236}">
                <a16:creationId xmlns:a16="http://schemas.microsoft.com/office/drawing/2014/main" id="{7BE8DBA8-6CD5-6413-9188-1E4EE9837545}"/>
              </a:ext>
            </a:extLst>
          </p:cNvPr>
          <p:cNvSpPr txBox="1"/>
          <p:nvPr/>
        </p:nvSpPr>
        <p:spPr>
          <a:xfrm>
            <a:off x="6485795" y="4748980"/>
            <a:ext cx="1465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accent5">
                    <a:lumMod val="5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外部服務串接</a:t>
            </a:r>
          </a:p>
        </p:txBody>
      </p:sp>
      <p:sp>
        <p:nvSpPr>
          <p:cNvPr id="146" name="文字方塊 145">
            <a:extLst>
              <a:ext uri="{FF2B5EF4-FFF2-40B4-BE49-F238E27FC236}">
                <a16:creationId xmlns:a16="http://schemas.microsoft.com/office/drawing/2014/main" id="{A4FB5E4F-9FF0-AEF4-96DA-DD70D0610ACF}"/>
              </a:ext>
            </a:extLst>
          </p:cNvPr>
          <p:cNvSpPr txBox="1"/>
          <p:nvPr/>
        </p:nvSpPr>
        <p:spPr>
          <a:xfrm>
            <a:off x="6479923" y="5657208"/>
            <a:ext cx="841376" cy="297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寄件服務</a:t>
            </a:r>
          </a:p>
        </p:txBody>
      </p:sp>
      <p:pic>
        <p:nvPicPr>
          <p:cNvPr id="147" name="圖片 146" descr="Email Icons PNGs for Free Download">
            <a:extLst>
              <a:ext uri="{FF2B5EF4-FFF2-40B4-BE49-F238E27FC236}">
                <a16:creationId xmlns:a16="http://schemas.microsoft.com/office/drawing/2014/main" id="{7AB2866B-544E-0F0A-195E-B2CCFCCD40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35051" y="5056142"/>
            <a:ext cx="728953" cy="728953"/>
          </a:xfrm>
          <a:prstGeom prst="rect">
            <a:avLst/>
          </a:prstGeom>
        </p:spPr>
      </p:pic>
      <p:pic>
        <p:nvPicPr>
          <p:cNvPr id="148" name="圖片 147" descr="Printer Vector PNG Transparent Background, Free Download #1009 ...">
            <a:extLst>
              <a:ext uri="{FF2B5EF4-FFF2-40B4-BE49-F238E27FC236}">
                <a16:creationId xmlns:a16="http://schemas.microsoft.com/office/drawing/2014/main" id="{13ED6A2F-DE02-67B0-C6FD-383B97D5192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2976" y="5134406"/>
            <a:ext cx="572425" cy="572425"/>
          </a:xfrm>
          <a:prstGeom prst="rect">
            <a:avLst/>
          </a:prstGeom>
        </p:spPr>
      </p:pic>
      <p:sp>
        <p:nvSpPr>
          <p:cNvPr id="150" name="文字方塊 149">
            <a:extLst>
              <a:ext uri="{FF2B5EF4-FFF2-40B4-BE49-F238E27FC236}">
                <a16:creationId xmlns:a16="http://schemas.microsoft.com/office/drawing/2014/main" id="{6E075F99-8432-0D4F-610F-18F377DA52FC}"/>
              </a:ext>
            </a:extLst>
          </p:cNvPr>
          <p:cNvSpPr txBox="1"/>
          <p:nvPr/>
        </p:nvSpPr>
        <p:spPr>
          <a:xfrm>
            <a:off x="7445543" y="5657208"/>
            <a:ext cx="841376" cy="297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合約套印</a:t>
            </a:r>
          </a:p>
        </p:txBody>
      </p:sp>
      <p:sp>
        <p:nvSpPr>
          <p:cNvPr id="152" name="矩形: 圓角 151">
            <a:extLst>
              <a:ext uri="{FF2B5EF4-FFF2-40B4-BE49-F238E27FC236}">
                <a16:creationId xmlns:a16="http://schemas.microsoft.com/office/drawing/2014/main" id="{928CB751-C090-CEC3-0834-6813B9A23B66}"/>
              </a:ext>
            </a:extLst>
          </p:cNvPr>
          <p:cNvSpPr/>
          <p:nvPr/>
        </p:nvSpPr>
        <p:spPr>
          <a:xfrm>
            <a:off x="6407888" y="6220451"/>
            <a:ext cx="5560356" cy="406421"/>
          </a:xfrm>
          <a:prstGeom prst="roundRect">
            <a:avLst>
              <a:gd name="adj" fmla="val 18511"/>
            </a:avLst>
          </a:prstGeom>
          <a:solidFill>
            <a:srgbClr val="F5F9FD"/>
          </a:solidFill>
          <a:ln w="9525" cap="flat" cmpd="sng" algn="ctr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4"/>
          </a:fontRef>
        </p:style>
        <p:txBody>
          <a:bodyPr rtlCol="0" anchor="ctr"/>
          <a:lstStyle/>
          <a:p>
            <a:r>
              <a:rPr lang="zh-TW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開發工具：</a:t>
            </a:r>
            <a:r>
              <a:rPr lang="en-US" altLang="zh-TW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Visual Studio 2026</a:t>
            </a:r>
            <a:r>
              <a:rPr lang="zh-TW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en-US" altLang="zh-TW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Live Server</a:t>
            </a:r>
            <a:r>
              <a:rPr lang="zh-TW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、</a:t>
            </a:r>
            <a:r>
              <a:rPr lang="en-US" altLang="zh-TW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GitHub</a:t>
            </a:r>
            <a:r>
              <a:rPr lang="zh-TW" altLang="en-US" sz="1200" dirty="0">
                <a:solidFill>
                  <a:schemeClr val="tx2">
                    <a:lumMod val="90000"/>
                    <a:lumOff val="10000"/>
                  </a:schemeClr>
                </a:solidFill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版本控制</a:t>
            </a:r>
          </a:p>
        </p:txBody>
      </p:sp>
      <p:sp>
        <p:nvSpPr>
          <p:cNvPr id="154" name="箭號: 向左 153">
            <a:extLst>
              <a:ext uri="{FF2B5EF4-FFF2-40B4-BE49-F238E27FC236}">
                <a16:creationId xmlns:a16="http://schemas.microsoft.com/office/drawing/2014/main" id="{F437DD5F-C3A6-80B2-68A1-DF619C808992}"/>
              </a:ext>
            </a:extLst>
          </p:cNvPr>
          <p:cNvSpPr/>
          <p:nvPr/>
        </p:nvSpPr>
        <p:spPr>
          <a:xfrm rot="16200000">
            <a:off x="6623039" y="4400527"/>
            <a:ext cx="387914" cy="306998"/>
          </a:xfrm>
          <a:prstGeom prst="lef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6" name="文字方塊 155">
            <a:extLst>
              <a:ext uri="{FF2B5EF4-FFF2-40B4-BE49-F238E27FC236}">
                <a16:creationId xmlns:a16="http://schemas.microsoft.com/office/drawing/2014/main" id="{F3CC62D8-B24B-4C47-47E8-07FEC9BE1527}"/>
              </a:ext>
            </a:extLst>
          </p:cNvPr>
          <p:cNvSpPr txBox="1"/>
          <p:nvPr/>
        </p:nvSpPr>
        <p:spPr>
          <a:xfrm>
            <a:off x="2412588" y="4369369"/>
            <a:ext cx="700833" cy="297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</a:t>
            </a: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Dapper</a:t>
            </a:r>
          </a:p>
        </p:txBody>
      </p:sp>
      <p:sp>
        <p:nvSpPr>
          <p:cNvPr id="158" name="文字方塊 157">
            <a:extLst>
              <a:ext uri="{FF2B5EF4-FFF2-40B4-BE49-F238E27FC236}">
                <a16:creationId xmlns:a16="http://schemas.microsoft.com/office/drawing/2014/main" id="{8097B2F9-C40F-FF5F-9189-3D5251016FF4}"/>
              </a:ext>
            </a:extLst>
          </p:cNvPr>
          <p:cNvSpPr txBox="1"/>
          <p:nvPr/>
        </p:nvSpPr>
        <p:spPr>
          <a:xfrm>
            <a:off x="6951105" y="4375762"/>
            <a:ext cx="1515158" cy="297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Service / Middleware</a:t>
            </a:r>
          </a:p>
        </p:txBody>
      </p:sp>
      <p:sp>
        <p:nvSpPr>
          <p:cNvPr id="160" name="文字方塊 159">
            <a:extLst>
              <a:ext uri="{FF2B5EF4-FFF2-40B4-BE49-F238E27FC236}">
                <a16:creationId xmlns:a16="http://schemas.microsoft.com/office/drawing/2014/main" id="{8A51928C-B2C8-6776-C539-866B131A343A}"/>
              </a:ext>
            </a:extLst>
          </p:cNvPr>
          <p:cNvSpPr txBox="1"/>
          <p:nvPr/>
        </p:nvSpPr>
        <p:spPr>
          <a:xfrm>
            <a:off x="9424996" y="3630759"/>
            <a:ext cx="466794" cy="2978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部署</a:t>
            </a:r>
            <a:endParaRPr lang="en-US" altLang="zh-TW" sz="1100" dirty="0">
              <a:latin typeface="微軟正黑體 Light" panose="020B0304030504040204" pitchFamily="34" charset="-120"/>
              <a:ea typeface="微軟正黑體 Light" panose="020B0304030504040204" pitchFamily="34" charset="-120"/>
            </a:endParaRPr>
          </a:p>
        </p:txBody>
      </p:sp>
      <p:sp>
        <p:nvSpPr>
          <p:cNvPr id="162" name="文字方塊 161">
            <a:extLst>
              <a:ext uri="{FF2B5EF4-FFF2-40B4-BE49-F238E27FC236}">
                <a16:creationId xmlns:a16="http://schemas.microsoft.com/office/drawing/2014/main" id="{13BA1E4B-6320-D1D0-28B2-61215C2BFB4A}"/>
              </a:ext>
            </a:extLst>
          </p:cNvPr>
          <p:cNvSpPr txBox="1"/>
          <p:nvPr/>
        </p:nvSpPr>
        <p:spPr>
          <a:xfrm>
            <a:off x="9353021" y="1262749"/>
            <a:ext cx="651140" cy="52867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800"/>
              </a:lnSpc>
            </a:pP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Header</a:t>
            </a:r>
          </a:p>
          <a:p>
            <a:pPr algn="ctr">
              <a:lnSpc>
                <a:spcPts val="1800"/>
              </a:lnSpc>
            </a:pPr>
            <a:r>
              <a:rPr lang="en-US" altLang="zh-TW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Bearer</a:t>
            </a:r>
          </a:p>
        </p:txBody>
      </p:sp>
      <p:pic>
        <p:nvPicPr>
          <p:cNvPr id="173" name="圖片 172" descr="Sql Server Logo Transparent Png - Transparent Microsoft Sql Server Logo ...">
            <a:extLst>
              <a:ext uri="{FF2B5EF4-FFF2-40B4-BE49-F238E27FC236}">
                <a16:creationId xmlns:a16="http://schemas.microsoft.com/office/drawing/2014/main" id="{A95EE7A2-0CDB-B74B-2797-7D57BFC8087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42912" y="6163550"/>
            <a:ext cx="957254" cy="283985"/>
          </a:xfrm>
          <a:prstGeom prst="rect">
            <a:avLst/>
          </a:prstGeom>
        </p:spPr>
      </p:pic>
      <p:pic>
        <p:nvPicPr>
          <p:cNvPr id="175" name="圖片 174" descr="Raykie’s blog">
            <a:extLst>
              <a:ext uri="{FF2B5EF4-FFF2-40B4-BE49-F238E27FC236}">
                <a16:creationId xmlns:a16="http://schemas.microsoft.com/office/drawing/2014/main" id="{C78B82FF-79DA-54B2-BFA3-173E0E759C9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709189" y="6014256"/>
            <a:ext cx="858638" cy="572425"/>
          </a:xfrm>
          <a:prstGeom prst="rect">
            <a:avLst/>
          </a:prstGeom>
        </p:spPr>
      </p:pic>
      <p:pic>
        <p:nvPicPr>
          <p:cNvPr id="178" name="圖片 177">
            <a:extLst>
              <a:ext uri="{FF2B5EF4-FFF2-40B4-BE49-F238E27FC236}">
                <a16:creationId xmlns:a16="http://schemas.microsoft.com/office/drawing/2014/main" id="{8C9C57E9-2433-B0D6-1EBF-C764DA4ED30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434374" y="5050054"/>
            <a:ext cx="741128" cy="741128"/>
          </a:xfrm>
          <a:prstGeom prst="rect">
            <a:avLst/>
          </a:prstGeom>
        </p:spPr>
      </p:pic>
      <p:sp>
        <p:nvSpPr>
          <p:cNvPr id="180" name="文字方塊 179">
            <a:extLst>
              <a:ext uri="{FF2B5EF4-FFF2-40B4-BE49-F238E27FC236}">
                <a16:creationId xmlns:a16="http://schemas.microsoft.com/office/drawing/2014/main" id="{2EE8C939-36F0-1D21-BA6B-8FBB4DA47A39}"/>
              </a:ext>
            </a:extLst>
          </p:cNvPr>
          <p:cNvSpPr txBox="1"/>
          <p:nvPr/>
        </p:nvSpPr>
        <p:spPr>
          <a:xfrm>
            <a:off x="8411164" y="5657208"/>
            <a:ext cx="841376" cy="2978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800"/>
              </a:lnSpc>
            </a:pPr>
            <a:r>
              <a:rPr lang="zh-TW" altLang="en-US" sz="1100" dirty="0">
                <a:latin typeface="微軟正黑體 Light" panose="020B0304030504040204" pitchFamily="34" charset="-120"/>
                <a:ea typeface="微軟正黑體 Light" panose="020B0304030504040204" pitchFamily="34" charset="-120"/>
              </a:rPr>
              <a:t> 排程服務</a:t>
            </a:r>
          </a:p>
        </p:txBody>
      </p:sp>
    </p:spTree>
    <p:extLst>
      <p:ext uri="{BB962C8B-B14F-4D97-AF65-F5344CB8AC3E}">
        <p14:creationId xmlns:p14="http://schemas.microsoft.com/office/powerpoint/2010/main" val="3353780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</TotalTime>
  <Words>257</Words>
  <Application>Microsoft Office PowerPoint</Application>
  <PresentationFormat>寬螢幕</PresentationFormat>
  <Paragraphs>68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6" baseType="lpstr">
      <vt:lpstr>微軟正黑體 Light</vt:lpstr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玉新 u11</dc:creator>
  <cp:lastModifiedBy>玉新 u11</cp:lastModifiedBy>
  <cp:revision>4</cp:revision>
  <dcterms:created xsi:type="dcterms:W3CDTF">2026-08-11T05:35:47Z</dcterms:created>
  <dcterms:modified xsi:type="dcterms:W3CDTF">2026-08-11T07:09:47Z</dcterms:modified>
</cp:coreProperties>
</file>